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757"/>
    <p:restoredTop sz="94665"/>
  </p:normalViewPr>
  <p:slideViewPr>
    <p:cSldViewPr snapToGrid="0">
      <p:cViewPr>
        <p:scale>
          <a:sx n="90" d="100"/>
          <a:sy n="90" d="100"/>
        </p:scale>
        <p:origin x="-68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BC5DD-DF36-21A5-442F-4B2D9F1CC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A597D-3C9B-C37E-B4A8-4A40B369C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F324F-6CA3-1335-DE4A-2315A0A2D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CD08-4920-7BE0-38E3-36271FEFA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BAA7-A929-3F6D-6455-AA7EB728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4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CC01C-D329-731A-1CF9-170AB009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B8DF5-BBA1-11AF-9804-858329101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6854-F5E1-96CE-42F5-BAAF6121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73AC2-FAFF-5AAF-A6C9-358A724B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ECB07-AC50-AFE9-4B59-9415CEB6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7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D4F9-99E3-C5DE-ACC8-F29D953AB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5EE7B-DCBA-D615-DB3F-B0EDB1453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F6045-9E46-0329-5BDD-661CC69C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2671C-A1B9-D673-4FE1-1932357B2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C427-B9B8-C285-68CE-D3E361E0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3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84D1B-27DA-5CCE-9CDE-FADB5BCA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B1B79-F2F0-BA0A-95FD-A60A20FAB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21A3D-4336-1ED8-7DE0-E0427AB46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5305C-10AF-93D7-ED42-6D1D1612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49331-4BED-032E-1FDA-ED077A601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B8C05-8B76-6B8C-6D51-ED164EB7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52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F9C8-E25C-DE1D-9CB1-423A4AB9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56EBF-31ED-D2E1-0403-F1AEDF172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AC8A-C852-4AB4-86DB-8B73813AA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EDFECC-C13B-B0D6-7F15-F0BB29883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11AE4-DEC7-91AC-1C4E-C652654B4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68413D-FC64-C10A-E88F-06F2F724D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D0D8E2-32BB-98F9-5384-78CC2D04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979B4-244D-9733-6825-8C24CE2C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27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0B99D-CD0B-0E24-1769-6AB65C9F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53C6AD-78DC-1A04-44C7-9BB5412ED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A0A13-F0C8-35FF-F715-7E136F22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88F29-ADE7-6414-4C78-636C46A23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69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952A3-875E-FDBF-6C01-0B9BBFAB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FD164-BE6B-3073-23C0-9C7EBAC0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C4CD8-BFAD-B0BC-F83A-71765DEF0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8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A0D0-B452-706B-0E5F-FBAB6A8ED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CA60-B88A-21EE-1793-979EE01B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A55D2-CF56-2265-FC05-5F1548EEE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81020-835D-45B5-2998-4E6E0614D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FAF8D-7686-0A5A-13ED-50AE697E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9FF5B-9E9F-8A2A-6DB7-E0390B4B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1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C2A2E-E72E-42AE-AEBC-0626BAAB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FD28F-E937-75BE-6652-487FAC7A4AC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79D22-C85F-FF66-2706-C8F802640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5B6B2-6F45-577B-0699-5DEE1CC8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77AFE-85C9-612D-2290-6A5607736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381EA-92C9-CB01-B778-EB88FA29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59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6F9C-D90A-0B37-1901-3E5563B4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40D99-243B-D300-ACD4-C85A968AB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60289-4BC1-FB43-D5AC-DB541DA8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82FF-F868-A3A6-0344-84E5A111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965B1-3831-3008-6548-19446455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1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27F5A-C24B-DD7E-D7F6-27758F20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F34E2-80C4-5373-A264-1FEAA8CD2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C3751-7677-094E-B433-1FF107DF1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5C1A3-966C-83E1-DB24-09AB7554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D0E95-3521-E21E-9473-BA603679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1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FA7D4-4E9B-08DD-718C-D1ADA0B09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AF807-77B8-809F-80FF-35FB53BE6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5C056-21DC-496B-E58B-6EC4199F5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65335-FC64-2441-98B7-3C4C4879EDA4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1CEF5-10C3-FA4E-2107-59BCF3737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404BF-3098-4179-49E9-2495C9A48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51BF7-97B5-E449-A4B4-0FA155428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4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C4EA-C1E8-346D-3AC4-38E2CA83D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5906"/>
            <a:ext cx="9144000" cy="68875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venir Next" panose="020B0503020202020204" pitchFamily="34" charset="0"/>
              </a:rPr>
              <a:t>Employee Expense Process Improvement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AD68E-5E10-CBA3-78B0-FB97ED2B1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4573"/>
            <a:ext cx="9144000" cy="461963"/>
          </a:xfrm>
        </p:spPr>
        <p:txBody>
          <a:bodyPr>
            <a:normAutofit/>
          </a:bodyPr>
          <a:lstStyle/>
          <a:p>
            <a:r>
              <a:rPr lang="en-GB" dirty="0">
                <a:latin typeface="Avenir Next" panose="020B0503020202020204" pitchFamily="34" charset="0"/>
              </a:rPr>
              <a:t>Business Process &amp; Digital Change Case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8442E-A48E-0C18-6910-D0A28216A87B}"/>
              </a:ext>
            </a:extLst>
          </p:cNvPr>
          <p:cNvSpPr txBox="1"/>
          <p:nvPr/>
        </p:nvSpPr>
        <p:spPr>
          <a:xfrm>
            <a:off x="1524001" y="2984192"/>
            <a:ext cx="400493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venir Next" panose="020B0503020202020204" pitchFamily="34" charset="0"/>
              </a:rPr>
              <a:t>Project Context</a:t>
            </a:r>
            <a:br>
              <a:rPr lang="en-GB" sz="1400" dirty="0">
                <a:latin typeface="Avenir Next" panose="020B0503020202020204" pitchFamily="34" charset="0"/>
              </a:rPr>
            </a:br>
            <a:r>
              <a:rPr lang="en-GB" sz="1400" dirty="0">
                <a:latin typeface="Avenir Next" panose="020B0503020202020204" pitchFamily="34" charset="0"/>
              </a:rPr>
              <a:t>This project looks at an employee expense process where an online system is already in place, but employees are experiencing delays with approvals and reimbursements.</a:t>
            </a:r>
          </a:p>
          <a:p>
            <a:endParaRPr lang="en-GB" sz="1400" dirty="0">
              <a:latin typeface="Avenir Next" panose="020B0503020202020204" pitchFamily="34" charset="0"/>
            </a:endParaRPr>
          </a:p>
          <a:p>
            <a:r>
              <a:rPr lang="en-GB" sz="1400" b="1" dirty="0">
                <a:latin typeface="Avenir Next" panose="020B0503020202020204" pitchFamily="34" charset="0"/>
              </a:rPr>
              <a:t>Objective</a:t>
            </a:r>
            <a:br>
              <a:rPr lang="en-GB" sz="1400" dirty="0">
                <a:latin typeface="Avenir Next" panose="020B0503020202020204" pitchFamily="34" charset="0"/>
              </a:rPr>
            </a:br>
            <a:r>
              <a:rPr lang="en-GB" sz="1400" dirty="0">
                <a:latin typeface="Avenir Next" panose="020B0503020202020204" pitchFamily="34" charset="0"/>
              </a:rPr>
              <a:t>To look at the current process, identify where problems occur and suggest changes that could make the process quicker and easier for employees while keeping the required checks.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5CAE9-0445-ABA7-1269-44FE82F6BEBE}"/>
              </a:ext>
            </a:extLst>
          </p:cNvPr>
          <p:cNvSpPr txBox="1"/>
          <p:nvPr/>
        </p:nvSpPr>
        <p:spPr>
          <a:xfrm>
            <a:off x="4349646" y="6295869"/>
            <a:ext cx="34927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latin typeface="Avenir Next" panose="020B0503020202020204" pitchFamily="34" charset="0"/>
              </a:rPr>
              <a:t>Fictional case study created for portfolio purposes.</a:t>
            </a:r>
            <a:endParaRPr lang="en-US" sz="1100" i="1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1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87F63-CCB9-1020-64A9-35014AE5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venir Next" panose="020B0503020202020204" pitchFamily="34" charset="0"/>
              </a:rPr>
              <a:t>Current Process (As-Is)</a:t>
            </a:r>
            <a:endParaRPr lang="en-US" b="1" dirty="0">
              <a:latin typeface="Avenir Next" panose="020B0503020202020204" pitchFamily="34" charset="0"/>
            </a:endParaRP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7CE6EEF2-5A1C-27BF-4CEE-B480D7FEA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471101"/>
            <a:ext cx="3932237" cy="2439987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>
                <a:latin typeface="Avenir Next" panose="020B0503020202020204" pitchFamily="34" charset="0"/>
              </a:rPr>
              <a:t>Key Problems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Claims can sit waiting for manager approval.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Approved claims can still take time to be processed by Finance.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Employees have limited visibility of where their claim 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The process depends heavily on people manually taking the next action.</a:t>
            </a:r>
          </a:p>
          <a:p>
            <a:endParaRPr lang="en-US" b="1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0FC01A4-DDA3-E74D-9E15-56A787271257}"/>
              </a:ext>
            </a:extLst>
          </p:cNvPr>
          <p:cNvSpPr/>
          <p:nvPr/>
        </p:nvSpPr>
        <p:spPr>
          <a:xfrm>
            <a:off x="6986954" y="1571126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Employee submits claim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FB3DD6B-8FAF-60C6-8AFC-4C475A185039}"/>
              </a:ext>
            </a:extLst>
          </p:cNvPr>
          <p:cNvSpPr/>
          <p:nvPr/>
        </p:nvSpPr>
        <p:spPr>
          <a:xfrm>
            <a:off x="6986954" y="2185889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Manager reviews claim</a:t>
            </a:r>
            <a:endParaRPr lang="en-US" sz="1050" dirty="0">
              <a:latin typeface="Avenir Next" panose="020B050302020202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524FF6A-7572-22EE-C3D1-EA6818F71A73}"/>
              </a:ext>
            </a:extLst>
          </p:cNvPr>
          <p:cNvSpPr/>
          <p:nvPr/>
        </p:nvSpPr>
        <p:spPr>
          <a:xfrm>
            <a:off x="6975231" y="2771903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Manager approves or rejects</a:t>
            </a:r>
            <a:endParaRPr lang="en-US" sz="1050" dirty="0">
              <a:latin typeface="Avenir Next" panose="020B0503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4A5FDD9-BCB1-2628-B111-F1C34EA26683}"/>
              </a:ext>
            </a:extLst>
          </p:cNvPr>
          <p:cNvSpPr/>
          <p:nvPr/>
        </p:nvSpPr>
        <p:spPr>
          <a:xfrm>
            <a:off x="6986954" y="3406206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Finance reviews approved claim</a:t>
            </a:r>
            <a:endParaRPr lang="en-US" sz="1050" dirty="0">
              <a:latin typeface="Avenir Next" panose="020B0503020202020204" pitchFamily="34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A8FAB67-BB03-D368-3D7C-ADBFAA75F576}"/>
              </a:ext>
            </a:extLst>
          </p:cNvPr>
          <p:cNvSpPr/>
          <p:nvPr/>
        </p:nvSpPr>
        <p:spPr>
          <a:xfrm>
            <a:off x="6986954" y="4009387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Finance processes payment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1F8DA53-2298-71E9-E3E7-7DCB3BFC9921}"/>
              </a:ext>
            </a:extLst>
          </p:cNvPr>
          <p:cNvSpPr/>
          <p:nvPr/>
        </p:nvSpPr>
        <p:spPr>
          <a:xfrm>
            <a:off x="6986954" y="4570002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Employee is reimbursed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4DEFEE1-7F41-E40F-6209-1486B21F7B68}"/>
              </a:ext>
            </a:extLst>
          </p:cNvPr>
          <p:cNvCxnSpPr>
            <a:stCxn id="33" idx="2"/>
            <a:endCxn id="35" idx="0"/>
          </p:cNvCxnSpPr>
          <p:nvPr/>
        </p:nvCxnSpPr>
        <p:spPr>
          <a:xfrm>
            <a:off x="8792308" y="1912212"/>
            <a:ext cx="0" cy="273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A272E4E-B3B9-A48A-5BDD-85AF9E400623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8792308" y="2526975"/>
            <a:ext cx="0" cy="244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3AC17B-1D01-FFAA-DC63-BC11F663FB85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8780585" y="3112989"/>
            <a:ext cx="11723" cy="293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C79FE4-7BF3-6361-07CB-453646DB2352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8792308" y="3747292"/>
            <a:ext cx="0" cy="262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6B3AF95-26E2-F925-1B44-CF777BDE319A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>
            <a:off x="8792308" y="4350473"/>
            <a:ext cx="0" cy="219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971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9C71C-D065-ECA9-12A2-21204F6C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526FE-74D2-45A0-4A89-F5813882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venir Next" panose="020B0503020202020204" pitchFamily="34" charset="0"/>
              </a:rPr>
              <a:t>Proposed Process (To-Be)</a:t>
            </a:r>
            <a:endParaRPr lang="en-US" b="1" dirty="0">
              <a:latin typeface="Avenir Next" panose="020B0503020202020204" pitchFamily="34" charset="0"/>
            </a:endParaRP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773D662-D046-9FCD-128C-4F6F6BFF6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471101"/>
            <a:ext cx="3932237" cy="2439987"/>
          </a:xfrm>
        </p:spPr>
        <p:txBody>
          <a:bodyPr>
            <a:normAutofit/>
          </a:bodyPr>
          <a:lstStyle/>
          <a:p>
            <a:r>
              <a:rPr lang="en-GB" b="1" dirty="0">
                <a:latin typeface="Avenir Next" panose="020B0503020202020204" pitchFamily="34" charset="0"/>
              </a:rPr>
              <a:t>Improvements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Automatic checks before submission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Notifications for new claims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Reminders for outstanding approvals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Claim status tracking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Automatic employee updates</a:t>
            </a:r>
          </a:p>
          <a:p>
            <a:pPr lvl="0"/>
            <a:r>
              <a:rPr lang="en-GB" dirty="0">
                <a:latin typeface="Avenir Next" panose="020B0503020202020204" pitchFamily="34" charset="0"/>
              </a:rPr>
              <a:t>.</a:t>
            </a:r>
          </a:p>
          <a:p>
            <a:endParaRPr lang="en-US" b="1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95A537E-4699-2619-B52F-F9D7EE80966F}"/>
              </a:ext>
            </a:extLst>
          </p:cNvPr>
          <p:cNvSpPr/>
          <p:nvPr/>
        </p:nvSpPr>
        <p:spPr>
          <a:xfrm>
            <a:off x="6986954" y="1571126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Employee submits claim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824087F-D49E-320A-B0E6-35C996224921}"/>
              </a:ext>
            </a:extLst>
          </p:cNvPr>
          <p:cNvSpPr/>
          <p:nvPr/>
        </p:nvSpPr>
        <p:spPr>
          <a:xfrm>
            <a:off x="6986954" y="2185889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System checks required information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B9EC998-4277-A11D-A492-5F641323A0D5}"/>
              </a:ext>
            </a:extLst>
          </p:cNvPr>
          <p:cNvSpPr/>
          <p:nvPr/>
        </p:nvSpPr>
        <p:spPr>
          <a:xfrm>
            <a:off x="6975231" y="2771903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Manager receives notification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34889C6-F743-7D28-C6EA-12379CD80EF6}"/>
              </a:ext>
            </a:extLst>
          </p:cNvPr>
          <p:cNvSpPr/>
          <p:nvPr/>
        </p:nvSpPr>
        <p:spPr>
          <a:xfrm>
            <a:off x="6986954" y="3406206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Avenir Next" panose="020B0503020202020204" pitchFamily="34" charset="0"/>
            </a:endParaRPr>
          </a:p>
          <a:p>
            <a:pPr algn="ctr"/>
            <a:r>
              <a:rPr lang="en-GB" sz="1400" dirty="0">
                <a:latin typeface="Avenir Next" panose="020B0503020202020204" pitchFamily="34" charset="0"/>
              </a:rPr>
              <a:t>Manager approves or rejects</a:t>
            </a:r>
            <a:br>
              <a:rPr lang="en-GB" sz="1400" dirty="0">
                <a:latin typeface="Avenir Next" panose="020B0503020202020204" pitchFamily="34" charset="0"/>
              </a:rPr>
            </a:b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FDFC187-086C-0E25-E38A-815FBDD04D3D}"/>
              </a:ext>
            </a:extLst>
          </p:cNvPr>
          <p:cNvSpPr/>
          <p:nvPr/>
        </p:nvSpPr>
        <p:spPr>
          <a:xfrm>
            <a:off x="6986954" y="4009387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Approved claim goes to Finance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8E8ADBE-BBF8-7553-0F7E-111085B66DEB}"/>
              </a:ext>
            </a:extLst>
          </p:cNvPr>
          <p:cNvSpPr/>
          <p:nvPr/>
        </p:nvSpPr>
        <p:spPr>
          <a:xfrm>
            <a:off x="6986954" y="4570002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Finance processes payment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10095F-3D92-1D82-3A88-F6378CF5ED44}"/>
              </a:ext>
            </a:extLst>
          </p:cNvPr>
          <p:cNvSpPr/>
          <p:nvPr/>
        </p:nvSpPr>
        <p:spPr>
          <a:xfrm>
            <a:off x="6975231" y="5130617"/>
            <a:ext cx="3610708" cy="34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venir Next" panose="020B0503020202020204" pitchFamily="34" charset="0"/>
              </a:rPr>
              <a:t>Employee receives payment update</a:t>
            </a:r>
            <a:endParaRPr lang="en-US" sz="1400" dirty="0">
              <a:latin typeface="Avenir Next" panose="020B0503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CCAA36-7DD2-AC8C-8162-544453A2D587}"/>
              </a:ext>
            </a:extLst>
          </p:cNvPr>
          <p:cNvCxnSpPr>
            <a:stCxn id="33" idx="2"/>
            <a:endCxn id="35" idx="0"/>
          </p:cNvCxnSpPr>
          <p:nvPr/>
        </p:nvCxnSpPr>
        <p:spPr>
          <a:xfrm>
            <a:off x="8792308" y="1912212"/>
            <a:ext cx="0" cy="273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E79ED2-D7D3-F907-19B8-EDD7BBB94D9A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 flipH="1">
            <a:off x="8780585" y="2526975"/>
            <a:ext cx="11723" cy="244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D7A61F-977B-2B40-B26B-61C37B147B2E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8780585" y="3112989"/>
            <a:ext cx="11723" cy="293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A22895-C321-6228-ABCA-4648CFBE1109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8792308" y="3747292"/>
            <a:ext cx="0" cy="262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E62DDE-114A-B6D8-DA31-F0ADACA15CF5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>
            <a:off x="8792308" y="4350473"/>
            <a:ext cx="0" cy="219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21F450-1F19-6099-F984-DA46514059B5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8792308" y="4911088"/>
            <a:ext cx="0" cy="219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549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5513A6-608E-B444-0C63-9807AB90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366056"/>
              </p:ext>
            </p:extLst>
          </p:nvPr>
        </p:nvGraphicFramePr>
        <p:xfrm>
          <a:off x="2000397" y="1005529"/>
          <a:ext cx="8191205" cy="4846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1223">
                  <a:extLst>
                    <a:ext uri="{9D8B030D-6E8A-4147-A177-3AD203B41FA5}">
                      <a16:colId xmlns:a16="http://schemas.microsoft.com/office/drawing/2014/main" val="1968520263"/>
                    </a:ext>
                  </a:extLst>
                </a:gridCol>
                <a:gridCol w="5159982">
                  <a:extLst>
                    <a:ext uri="{9D8B030D-6E8A-4147-A177-3AD203B41FA5}">
                      <a16:colId xmlns:a16="http://schemas.microsoft.com/office/drawing/2014/main" val="2912188569"/>
                    </a:ext>
                  </a:extLst>
                </a:gridCol>
              </a:tblGrid>
              <a:tr h="59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Avenir Next" panose="020B0503020202020204" pitchFamily="34" charset="0"/>
                        </a:rPr>
                        <a:t>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venir Next" panose="020B0503020202020204" pitchFamily="34" charset="0"/>
                        </a:rPr>
                        <a:t>Why it is needed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957275"/>
                  </a:ext>
                </a:extLst>
              </a:tr>
              <a:tr h="594988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Receipt upload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Employees need to provide evidence for claims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653206"/>
                  </a:ext>
                </a:extLst>
              </a:tr>
              <a:tr h="594988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Required field checks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Reduce incomplete claims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646273"/>
                  </a:ext>
                </a:extLst>
              </a:tr>
              <a:tr h="594988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Manager notifications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Helps claims to get reviewed sooner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385471"/>
                  </a:ext>
                </a:extLst>
              </a:tr>
              <a:tr h="594988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Automatic reminders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Reduce claims sitting unreviewed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988264"/>
                  </a:ext>
                </a:extLst>
              </a:tr>
              <a:tr h="594988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Claim status tracking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Employees can see where their claim 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185909"/>
                  </a:ext>
                </a:extLst>
              </a:tr>
              <a:tr h="619529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Finance view of approved claims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Make it easier to manage claims ready for payment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486511"/>
                  </a:ext>
                </a:extLst>
              </a:tr>
              <a:tr h="619529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Payment notifications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Employees know when reimbursement has been processed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2365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F7ED5D8-6280-B808-CBF4-EC7E32082836}"/>
              </a:ext>
            </a:extLst>
          </p:cNvPr>
          <p:cNvSpPr txBox="1"/>
          <p:nvPr/>
        </p:nvSpPr>
        <p:spPr>
          <a:xfrm>
            <a:off x="2916864" y="255270"/>
            <a:ext cx="6358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Avenir Next" panose="020B0503020202020204" pitchFamily="34" charset="0"/>
              </a:rPr>
              <a:t>Business Requirements</a:t>
            </a:r>
            <a:endParaRPr lang="en-US" sz="3200" b="1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65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55730-34C7-09E8-5578-3BA80F1D0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C02D-48A4-40D1-4E8C-6CC7D558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venir Next" panose="020B0503020202020204" pitchFamily="34" charset="0"/>
              </a:rPr>
              <a:t>Stakeholders &amp; Change Impact</a:t>
            </a:r>
            <a:endParaRPr lang="en-US" b="1" dirty="0">
              <a:latin typeface="Avenir Next" panose="020B0503020202020204" pitchFamily="34" charset="0"/>
            </a:endParaRP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21885DE8-7285-184C-0A60-F84897CE7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471101"/>
            <a:ext cx="3932237" cy="2439987"/>
          </a:xfrm>
        </p:spPr>
        <p:txBody>
          <a:bodyPr>
            <a:normAutofit lnSpcReduction="10000"/>
          </a:bodyPr>
          <a:lstStyle/>
          <a:p>
            <a:r>
              <a:rPr lang="en-GB" b="1" dirty="0">
                <a:latin typeface="Avenir Next" panose="020B0503020202020204" pitchFamily="34" charset="0"/>
              </a:rPr>
              <a:t>Change Considerations</a:t>
            </a:r>
            <a:endParaRPr lang="en-GB" dirty="0">
              <a:latin typeface="Avenir Next" panose="020B0503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Test the changes before introducing them.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Give employees and managers clear guidance.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Provide support after the changes go live.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venir Next" panose="020B0503020202020204" pitchFamily="34" charset="0"/>
              </a:rPr>
              <a:t>Monitor whether approval and reimbursement times improve.</a:t>
            </a:r>
          </a:p>
          <a:p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94525B-2940-211C-D3BF-6A4A60012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405686"/>
              </p:ext>
            </p:extLst>
          </p:nvPr>
        </p:nvGraphicFramePr>
        <p:xfrm>
          <a:off x="5303653" y="1150974"/>
          <a:ext cx="6200776" cy="4556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649">
                  <a:extLst>
                    <a:ext uri="{9D8B030D-6E8A-4147-A177-3AD203B41FA5}">
                      <a16:colId xmlns:a16="http://schemas.microsoft.com/office/drawing/2014/main" val="1968520263"/>
                    </a:ext>
                  </a:extLst>
                </a:gridCol>
                <a:gridCol w="3906127">
                  <a:extLst>
                    <a:ext uri="{9D8B030D-6E8A-4147-A177-3AD203B41FA5}">
                      <a16:colId xmlns:a16="http://schemas.microsoft.com/office/drawing/2014/main" val="2912188569"/>
                    </a:ext>
                  </a:extLst>
                </a:gridCol>
              </a:tblGrid>
              <a:tr h="944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Stakeholder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latin typeface="Avenir Next" panose="020B0503020202020204" pitchFamily="34" charset="0"/>
                        </a:rPr>
                        <a:t>How they are affected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957275"/>
                  </a:ext>
                </a:extLst>
              </a:tr>
              <a:tr h="902775">
                <a:tc>
                  <a:txBody>
                    <a:bodyPr/>
                    <a:lstStyle/>
                    <a:p>
                      <a:r>
                        <a:rPr lang="en-GB"/>
                        <a:t>Employees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Clearer process and better visibility of claims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653206"/>
                  </a:ext>
                </a:extLst>
              </a:tr>
              <a:tr h="902775">
                <a:tc>
                  <a:txBody>
                    <a:bodyPr/>
                    <a:lstStyle/>
                    <a:p>
                      <a:r>
                        <a:rPr lang="en-GB"/>
                        <a:t>Managers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Notifications and reminders for claims requiring approval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646273"/>
                  </a:ext>
                </a:extLst>
              </a:tr>
              <a:tr h="902775">
                <a:tc>
                  <a:txBody>
                    <a:bodyPr/>
                    <a:lstStyle/>
                    <a:p>
                      <a:r>
                        <a:rPr lang="en-GB"/>
                        <a:t>Finance Team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Clearer view of approved claims waiting for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385471"/>
                  </a:ext>
                </a:extLst>
              </a:tr>
              <a:tr h="902775">
                <a:tc>
                  <a:txBody>
                    <a:bodyPr/>
                    <a:lstStyle/>
                    <a:p>
                      <a:r>
                        <a:rPr lang="en-GB"/>
                        <a:t>IT / Support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Next" panose="020B0503020202020204" pitchFamily="34" charset="0"/>
                        </a:rPr>
                        <a:t>Supports system changes, testing and technical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988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76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E9E50D-E44E-33C6-9533-911E8C127BF9}"/>
              </a:ext>
            </a:extLst>
          </p:cNvPr>
          <p:cNvSpPr txBox="1"/>
          <p:nvPr/>
        </p:nvSpPr>
        <p:spPr>
          <a:xfrm>
            <a:off x="2232837" y="552893"/>
            <a:ext cx="7102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Avenir Next" panose="020B0503020202020204" pitchFamily="34" charset="0"/>
              </a:rPr>
              <a:t>Recommendation</a:t>
            </a:r>
            <a:endParaRPr lang="en-US" sz="3200" b="1" dirty="0">
              <a:latin typeface="Avenir Next" panose="020B0503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457AA4-11B7-CE78-F372-F752524D2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59677"/>
              </p:ext>
            </p:extLst>
          </p:nvPr>
        </p:nvGraphicFramePr>
        <p:xfrm>
          <a:off x="4515293" y="1641667"/>
          <a:ext cx="3189767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9767">
                  <a:extLst>
                    <a:ext uri="{9D8B030D-6E8A-4147-A177-3AD203B41FA5}">
                      <a16:colId xmlns:a16="http://schemas.microsoft.com/office/drawing/2014/main" val="2356086086"/>
                    </a:ext>
                  </a:extLst>
                </a:gridCol>
              </a:tblGrid>
              <a:tr h="195639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What should change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454696"/>
                  </a:ext>
                </a:extLst>
              </a:tr>
              <a:tr h="664394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Add automatic checks to reduce incomplete submissions.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20827"/>
                  </a:ext>
                </a:extLst>
              </a:tr>
              <a:tr h="863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Avenir Next" panose="020B0503020202020204" pitchFamily="34" charset="0"/>
                        </a:rPr>
                        <a:t>Use notifications and reminders to reduce approval delays.</a:t>
                      </a:r>
                    </a:p>
                    <a:p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074601"/>
                  </a:ext>
                </a:extLst>
              </a:tr>
              <a:tr h="465076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Give employees better visibility of their claim status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521711"/>
                  </a:ext>
                </a:extLst>
              </a:tr>
              <a:tr h="465076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Give Finance a clear view of claims waiting for payment.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519630"/>
                  </a:ext>
                </a:extLst>
              </a:tr>
              <a:tr h="664394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Track approval and reimbursement times after the changes.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699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CDEBA8-7D35-4587-53EE-9C37002DE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16365"/>
              </p:ext>
            </p:extLst>
          </p:nvPr>
        </p:nvGraphicFramePr>
        <p:xfrm>
          <a:off x="8179981" y="1641667"/>
          <a:ext cx="3189767" cy="383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9767">
                  <a:extLst>
                    <a:ext uri="{9D8B030D-6E8A-4147-A177-3AD203B41FA5}">
                      <a16:colId xmlns:a16="http://schemas.microsoft.com/office/drawing/2014/main" val="2356086086"/>
                    </a:ext>
                  </a:extLst>
                </a:gridCol>
              </a:tblGrid>
              <a:tr h="153109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Avenir Next" panose="020B0503020202020204" pitchFamily="34" charset="0"/>
                        </a:rPr>
                        <a:t>Expected Benefits</a:t>
                      </a:r>
                      <a:endParaRPr lang="en-GB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454696"/>
                  </a:ext>
                </a:extLst>
              </a:tr>
              <a:tr h="664394">
                <a:tc>
                  <a:txBody>
                    <a:bodyPr/>
                    <a:lstStyle/>
                    <a:p>
                      <a:pPr lvl="0"/>
                      <a:r>
                        <a:rPr lang="en-GB" dirty="0">
                          <a:latin typeface="Avenir Next" panose="020B0503020202020204" pitchFamily="34" charset="0"/>
                        </a:rPr>
                        <a:t>Faster approvals and reimbursements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20827"/>
                  </a:ext>
                </a:extLst>
              </a:tr>
              <a:tr h="863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Avenir Next" panose="020B0503020202020204" pitchFamily="34" charset="0"/>
                        </a:rPr>
                        <a:t>Less manual follow-up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074601"/>
                  </a:ext>
                </a:extLst>
              </a:tr>
              <a:tr h="465076">
                <a:tc>
                  <a:txBody>
                    <a:bodyPr/>
                    <a:lstStyle/>
                    <a:p>
                      <a:pPr lvl="0"/>
                      <a:r>
                        <a:rPr lang="en-GB" dirty="0">
                          <a:latin typeface="Avenir Next" panose="020B0503020202020204" pitchFamily="34" charset="0"/>
                        </a:rPr>
                        <a:t>Better visibility for employees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521711"/>
                  </a:ext>
                </a:extLst>
              </a:tr>
              <a:tr h="465076">
                <a:tc>
                  <a:txBody>
                    <a:bodyPr/>
                    <a:lstStyle/>
                    <a:p>
                      <a:pPr lvl="0"/>
                      <a:r>
                        <a:rPr lang="en-GB" dirty="0">
                          <a:latin typeface="Avenir Next" panose="020B0503020202020204" pitchFamily="34" charset="0"/>
                        </a:rPr>
                        <a:t>More efficient expense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519630"/>
                  </a:ext>
                </a:extLst>
              </a:tr>
              <a:tr h="664394">
                <a:tc>
                  <a:txBody>
                    <a:bodyPr/>
                    <a:lstStyle/>
                    <a:p>
                      <a:r>
                        <a:rPr lang="en-GB" dirty="0">
                          <a:latin typeface="Avenir Next" panose="020B0503020202020204" pitchFamily="34" charset="0"/>
                        </a:rPr>
                        <a:t>Required approval checks are still maintained</a:t>
                      </a:r>
                      <a:endParaRPr lang="en-US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699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0F5BA53-DE5B-3FC0-BD84-B6DAAC11CA9C}"/>
              </a:ext>
            </a:extLst>
          </p:cNvPr>
          <p:cNvSpPr txBox="1"/>
          <p:nvPr/>
        </p:nvSpPr>
        <p:spPr>
          <a:xfrm>
            <a:off x="822252" y="2828835"/>
            <a:ext cx="3423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venir Next" panose="020B0503020202020204" pitchFamily="34" charset="0"/>
              </a:rPr>
              <a:t>Main recommendation:</a:t>
            </a:r>
            <a:endParaRPr lang="en-GB" dirty="0">
              <a:latin typeface="Avenir Next" panose="020B0503020202020204" pitchFamily="34" charset="0"/>
            </a:endParaRPr>
          </a:p>
          <a:p>
            <a:r>
              <a:rPr lang="en-GB" dirty="0">
                <a:latin typeface="Avenir Next" panose="020B0503020202020204" pitchFamily="34" charset="0"/>
              </a:rPr>
              <a:t>Improve the existing expense process rather than replacing the whole system.</a:t>
            </a:r>
            <a:endParaRPr lang="en-US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360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436</Words>
  <Application>Microsoft Macintosh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Avenir Next</vt:lpstr>
      <vt:lpstr>Office Theme</vt:lpstr>
      <vt:lpstr>Employee Expense Process Improvement</vt:lpstr>
      <vt:lpstr>Current Process (As-Is)</vt:lpstr>
      <vt:lpstr>Proposed Process (To-Be)</vt:lpstr>
      <vt:lpstr>PowerPoint Presentation</vt:lpstr>
      <vt:lpstr>Stakeholders &amp; Change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Ilham Moro</dc:creator>
  <cp:lastModifiedBy>Ilham Moro</cp:lastModifiedBy>
  <cp:revision>1</cp:revision>
  <dcterms:created xsi:type="dcterms:W3CDTF">2026-10-10T16:07:37Z</dcterms:created>
  <dcterms:modified xsi:type="dcterms:W3CDTF">2026-10-11T19:03:38Z</dcterms:modified>
</cp:coreProperties>
</file>